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los Text"/>
      <p:regular r:id="rId21"/>
      <p:bold r:id="rId22"/>
    </p:embeddedFont>
    <p:embeddedFont>
      <p:font typeface="Golos Text SemiBo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ftntS3p5fSWzHvS1v6JLgVahf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losText-bold.fntdata"/><Relationship Id="rId21" Type="http://schemas.openxmlformats.org/officeDocument/2006/relationships/font" Target="fonts/GolosText-regular.fntdata"/><Relationship Id="rId24" Type="http://schemas.openxmlformats.org/officeDocument/2006/relationships/font" Target="fonts/GolosTextSemiBold-bold.fntdata"/><Relationship Id="rId23" Type="http://schemas.openxmlformats.org/officeDocument/2006/relationships/font" Target="fonts/GolosTex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0" name="Google Shape;80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3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6" name="Google Shape;86;p33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4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3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3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3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1" name="Google Shape;101;p3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2" name="Google Shape;102;p3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6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6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7" name="Google Shape;107;p36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08" name="Google Shape;108;p36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9" name="Google Shape;109;p36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7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7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4" name="Google Shape;114;p37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5" name="Google Shape;115;p37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6" name="Google Shape;116;p37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17" name="Google Shape;117;p37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8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8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8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4" name="Google Shape;124;p38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5" name="Google Shape;125;p38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6" name="Google Shape;126;p38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8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8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0" name="Google Shape;130;p38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1" name="Google Shape;131;p38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title"/>
          </p:nvPr>
        </p:nvSpPr>
        <p:spPr>
          <a:xfrm>
            <a:off x="921381" y="2016695"/>
            <a:ext cx="7482600" cy="28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</a:pPr>
            <a:br>
              <a:rPr lang="ru-RU" sz="2400">
                <a:solidFill>
                  <a:schemeClr val="lt1"/>
                </a:solidFill>
              </a:rPr>
            </a:br>
            <a:r>
              <a:rPr lang="ru-RU" sz="2400">
                <a:solidFill>
                  <a:schemeClr val="lt1"/>
                </a:solidFill>
              </a:rPr>
              <a:t>Проектирование и разработка приложения SmartBestHome для управления умным домом</a:t>
            </a:r>
            <a:br>
              <a:rPr lang="ru-RU" sz="2400">
                <a:solidFill>
                  <a:schemeClr val="lt1"/>
                </a:solidFill>
              </a:rPr>
            </a:br>
            <a:br>
              <a:rPr lang="ru-RU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24000" y="2594924"/>
            <a:ext cx="6495032" cy="859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5020525" y="3555850"/>
            <a:ext cx="41235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Абдалла Мустафа.А.М.А</a:t>
            </a:r>
            <a:br>
              <a:rPr b="1" lang="ru-RU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b="1" lang="ru-RU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Группа № 3420</a:t>
            </a:r>
            <a:endParaRPr b="1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Научный руководитель :Меркушев А.Е.</a:t>
            </a:r>
            <a:br>
              <a:rPr b="1" lang="ru-RU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b="1" lang="ru-RU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Санкт-Петербург ,2026</a:t>
            </a:r>
            <a:endParaRPr b="1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144" name="Google Shape;144;p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Фрагментация рынка IoT</a:t>
            </a:r>
            <a:r>
              <a:rPr lang="ru-RU"/>
              <a:t>. Множество несовместимых протоколов и экосистем создает высокий порог входа для пользователя.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Запрос на приватность</a:t>
            </a:r>
            <a:r>
              <a:rPr lang="ru-RU"/>
              <a:t>. После ряда инцидентов с утечками данных возрастает спрос на решения с локальным управлением.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Эволюция концепции</a:t>
            </a:r>
            <a:r>
              <a:rPr lang="ru-RU"/>
              <a:t>. Наблюдается переход от автоматизации процессов к созданию адаптивной среды, учитывающей состояние пользователя.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Проблемное поле</a:t>
            </a:r>
            <a:r>
              <a:rPr lang="ru-RU"/>
              <a:t>. Отсутствие на рынке решения, совмещающего мульти-протокольность, безопасность, простоту и эмоциональную адаптацию.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Уникальное торговое предложение</a:t>
            </a:r>
            <a:endParaRPr/>
          </a:p>
        </p:txBody>
      </p:sp>
      <p:sp>
        <p:nvSpPr>
          <p:cNvPr id="150" name="Google Shape;150;p3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Мультипротокольная интеграция.</a:t>
            </a:r>
            <a:r>
              <a:rPr lang="ru-RU"/>
              <a:t> Поддержка устройств различных стандартов (Matter, Zigbee, Wi-Fi) в едином интерфейсе.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Архитектура с приоритетом локальности</a:t>
            </a:r>
            <a:r>
              <a:rPr lang="ru-RU"/>
              <a:t>. Обеспечение работоспособности и управления в пределах домашней сети для повышения безопасности данных.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Адаптация под психоэмоциональное состояние</a:t>
            </a:r>
            <a:r>
              <a:rPr lang="ru-RU"/>
              <a:t>. Использование данных о настроении пользователя для персонализации сценариев автоматизации.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Доступный интерфейс</a:t>
            </a:r>
            <a:r>
              <a:rPr lang="ru-RU"/>
              <a:t>. Предоставление сложного функционала через интуитивно понятный и простой в освоении интерфейс.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Обзор аналогов и конкурентные преимущества</a:t>
            </a:r>
            <a:endParaRPr/>
          </a:p>
        </p:txBody>
      </p:sp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Проведенный анализ существующих решений выявил их системные ограничения.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Закрытые экосистемы (Яндекс, Xiaomi). </a:t>
            </a:r>
            <a:r>
              <a:rPr lang="ru-RU"/>
              <a:t>Ограниченная совместимость, зависимость от облака.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Открытые платформы (Home Assistant).</a:t>
            </a:r>
            <a:r>
              <a:rPr lang="ru-RU"/>
              <a:t> Высокая сложность настройки для неподготовленного пользователя.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Научные прототипы.</a:t>
            </a:r>
            <a:r>
              <a:rPr lang="ru-RU"/>
              <a:t> Отсутствие готовности к промышленному внедрению.</a:t>
            </a:r>
            <a:endParaRPr/>
          </a:p>
          <a:p>
            <a:pPr indent="-2540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Ключевое отличие SmartBestHome — введение эмоционального контекста как параметра управления, что позволяет реализовывать динамические адаптивные сценарии, недоступные конкурентам.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Цель и задачи</a:t>
            </a:r>
            <a:endParaRPr/>
          </a:p>
        </p:txBody>
      </p:sp>
      <p:sp>
        <p:nvSpPr>
          <p:cNvPr id="162" name="Google Shape;162;p5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Цель работы — проектирование и разработка прототипа кроссплатформенного мобильного приложения для централизованного управления устройствами умного дома с функцией адаптации под психоэмоциональное состояние пользователя.</a:t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Задачи исследования: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Анализ предметной области и существующих решений.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Формулирование функциональных и нефункциональных требований.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Проектирование архитектуры системы и модели данных.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Выбор технологического стека и реализация рабочего прототипа.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Контекст системы</a:t>
            </a:r>
            <a:endParaRPr/>
          </a:p>
        </p:txBody>
      </p:sp>
      <p:sp>
        <p:nvSpPr>
          <p:cNvPr id="168" name="Google Shape;168;p6"/>
          <p:cNvSpPr txBox="1"/>
          <p:nvPr>
            <p:ph idx="1" type="body"/>
          </p:nvPr>
        </p:nvSpPr>
        <p:spPr>
          <a:xfrm>
            <a:off x="457200" y="1081316"/>
            <a:ext cx="7467600" cy="624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Для определения границ проектируемой системы и ее взаимодействия с внешними сущностями разработана контекстная диаграмма.</a:t>
            </a:r>
            <a:endParaRPr/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945" y="1705430"/>
            <a:ext cx="5327015" cy="28759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 txBox="1"/>
          <p:nvPr/>
        </p:nvSpPr>
        <p:spPr>
          <a:xfrm>
            <a:off x="6313714" y="2255509"/>
            <a:ext cx="2329489" cy="117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Рисунок 1 – Контекстная диаграмма для первого выпуска приложения умного дома с мониторингом настроения.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Функциональные требования</a:t>
            </a:r>
            <a:endParaRPr/>
          </a:p>
        </p:txBody>
      </p:sp>
      <p:sp>
        <p:nvSpPr>
          <p:cNvPr id="176" name="Google Shape;176;p7"/>
          <p:cNvSpPr txBox="1"/>
          <p:nvPr>
            <p:ph idx="1" type="body"/>
          </p:nvPr>
        </p:nvSpPr>
        <p:spPr>
          <a:xfrm>
            <a:off x="674914" y="1226457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Система должна предоставлять пользователю следующий базовый функционал:</a:t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Регистрация, аутентификация и управление профилем.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Добавление, удаление и конфигурация устройств умного дома.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Создание, редактирование и исполнение адаптивных сценариев автоматизации.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Ведение дневника эмоционального состояния через опросы и заметки.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ru-RU"/>
              <a:t>Просмотр аналитической отчетности на основе собранных данных.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Архитектура и моделирование процессов</a:t>
            </a:r>
            <a:endParaRPr/>
          </a:p>
        </p:txBody>
      </p:sp>
      <p:sp>
        <p:nvSpPr>
          <p:cNvPr id="182" name="Google Shape;182;p8"/>
          <p:cNvSpPr txBox="1"/>
          <p:nvPr>
            <p:ph idx="1" type="body"/>
          </p:nvPr>
        </p:nvSpPr>
        <p:spPr>
          <a:xfrm>
            <a:off x="4571999" y="2520613"/>
            <a:ext cx="4203699" cy="52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Для детализации внутренней логики системы использованы диаграммы деятельности.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4368800" y="4419101"/>
            <a:ext cx="4311624" cy="34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Рисунок 2 – Диаграмма деятельности для создания сценария.</a:t>
            </a:r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32" y="995024"/>
            <a:ext cx="3799568" cy="3779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Архитектура и моделирование процессов</a:t>
            </a:r>
            <a:endParaRPr/>
          </a:p>
        </p:txBody>
      </p:sp>
      <p:sp>
        <p:nvSpPr>
          <p:cNvPr id="190" name="Google Shape;190;p9"/>
          <p:cNvSpPr txBox="1"/>
          <p:nvPr>
            <p:ph idx="1" type="body"/>
          </p:nvPr>
        </p:nvSpPr>
        <p:spPr>
          <a:xfrm>
            <a:off x="457200" y="1061929"/>
            <a:ext cx="7063012" cy="7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Для структурированного описания взаимодействия акторов с системой построена диаграмма прецедентов.</a:t>
            </a:r>
            <a:endParaRPr/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143" y="1740756"/>
            <a:ext cx="5853244" cy="294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Технологический стек реализации</a:t>
            </a:r>
            <a:endParaRPr/>
          </a:p>
        </p:txBody>
      </p:sp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Для достижения поставленных целей выбран следующий набор технологий:</a:t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Клиентское приложение</a:t>
            </a:r>
            <a:r>
              <a:rPr lang="ru-RU"/>
              <a:t>: фреймворк Flutter для кроссплатформенной разработки под iOS и Android.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Серверная часть</a:t>
            </a:r>
            <a:r>
              <a:rPr lang="ru-RU"/>
              <a:t>: Django с Django REST Framework для реализации бизнес-логики и API.</a:t>
            </a:r>
            <a:endParaRPr/>
          </a:p>
          <a:p>
            <a:pPr indent="-342900" lvl="0" marL="3429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ru-RU"/>
              <a:t>Система управления базами данных</a:t>
            </a:r>
            <a:r>
              <a:rPr lang="ru-RU"/>
              <a:t>: MS SQL Server для надежного хранения структурированных данных.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Клиентское приложение</a:t>
            </a:r>
            <a:endParaRPr/>
          </a:p>
        </p:txBody>
      </p:sp>
      <p:sp>
        <p:nvSpPr>
          <p:cNvPr id="203" name="Google Shape;203;p11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/>
              <a:t>Экран — «Мои сценарии: отображение списка сценариевдобавление и удаление сценариев.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/>
              <a:t>Экран вариантов настроения: выбор и управление вариациями сценария.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/>
              <a:t>Экран действий: настройка действий для каждого состояния.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/>
              <a:t>Обеспечено удобное и интуитивное взаимодействие пользователя с системой.</a:t>
            </a:r>
            <a:endParaRPr/>
          </a:p>
        </p:txBody>
      </p:sp>
      <p:pic>
        <p:nvPicPr>
          <p:cNvPr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447" y="2708031"/>
            <a:ext cx="3348111" cy="2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4558" y="2708031"/>
            <a:ext cx="4033324" cy="200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Серверная часть</a:t>
            </a:r>
            <a:endParaRPr/>
          </a:p>
        </p:txBody>
      </p:sp>
      <p:pic>
        <p:nvPicPr>
          <p:cNvPr id="211" name="Google Shape;21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812" y="1032508"/>
            <a:ext cx="2888003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/>
          <p:nvPr/>
        </p:nvSpPr>
        <p:spPr>
          <a:xfrm>
            <a:off x="5624292" y="4429015"/>
            <a:ext cx="20086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Основные адреса         API</a:t>
            </a:r>
            <a:endParaRPr sz="14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381961" y="1033415"/>
            <a:ext cx="4595675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Использован Django REST Framework для создания REST API.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Реализована система эндпоинтов для работы с данными.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Основные ресурсы: сценарии, устройства, действия, уведомления. 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Добавлена аутентификация (login, регистрация, восстановление пароля).</a:t>
            </a:r>
            <a:endParaRPr/>
          </a:p>
          <a:p>
            <a:pPr indent="0" lvl="0" marL="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API автоматически задокументирован (DRF Api Root).</a:t>
            </a:r>
            <a:endParaRPr sz="14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Система управления базами данных</a:t>
            </a:r>
            <a:endParaRPr sz="2400"/>
          </a:p>
        </p:txBody>
      </p:sp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457200" y="1019439"/>
            <a:ext cx="3939482" cy="1634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Реализована физическая модель данных.</a:t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Реализованы таблицы и связи между ними.</a:t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Обеспечена целостность данных: ON DELETE NO ACTION — запрет удаления при зависимостяхON DELETE CASCADE — каскадное удаление связанных записей.</a:t>
            </a:r>
            <a:endParaRPr/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2625" y="1005688"/>
            <a:ext cx="4137613" cy="370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488" y="2571321"/>
            <a:ext cx="3853165" cy="1085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</a:pPr>
            <a:r>
              <a:rPr lang="ru-RU" sz="2400"/>
              <a:t>Заключение</a:t>
            </a:r>
            <a:endParaRPr/>
          </a:p>
        </p:txBody>
      </p:sp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457200" y="1120656"/>
            <a:ext cx="7552394" cy="2548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В ходе работы была спроектирована и реализована архитектура системы, включающая серверную и клиентскую части, разработана база данных и создан API для их взаимодействия.</a:t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Реализация приложения с использованием Django, Flutter и MS SQL Server обеспечила гибкость, масштабируемость и удобство использования. Особенностью системы является поддержка сценариев, адаптирующихся к настроению пользователя, что повышает комфорт и персонализацию взаимодействия.</a:t>
            </a:r>
            <a:endParaRPr/>
          </a:p>
          <a:p>
            <a:pPr indent="0" lvl="0" marL="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/>
              <a:t>SmartBestHome демонстрирует новый подход к организации умного дома, объединяя технологические возможности с заботой о пользователе и создавая основу для дальнейшего развития интеллектуальных и проактивных систем.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